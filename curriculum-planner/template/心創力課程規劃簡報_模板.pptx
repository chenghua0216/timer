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封面為一校一份。填入學校名稱、負責夥伴。方案三顆標籤：把實際方案那顆改成黃底、刪掉另外兩顆（範例預設標 A）。定位句用『動詞＋對象＋改變』，避免抽象口號。右側色塊為示意，正式版替換為基金會官方插畫。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需求寫『校方原話＋你的翻譯』兩層。個案資訊只留與課程設計相關的，避免標籤化。對齊申請附件一三大題（學生家長概況／學校特色場地／課程規劃期待）。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推導方向：概念透鏡 → 核心概念 → 通則，左到右就是思考順序。黃帶放最核心的主通則（BLUF），其餘通則放③。通則寫成『不綁年級、不綁主題也成立』的完整句子（CBCI 原則層）。先有通則，再選主題承載，不要倒過來。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每個主題都要能回答『它在搬運哪條通則』。領域是載體不是目的。堂次加總對齊所選方案。講師欄填姓名與領域即可。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教師研習不是學生課程的縮小版。共學工作坊強調角色互換與心理安全感。對齊計畫教師端雙目標：身心支持＋專業賦能。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每堂標出領域與主題對應，避免只有日期沒有內容。下學期方案可能變動，確定後再補。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成果寫『可被看見的片段』而非口號，對齊計畫三層評估（量化／質性／長期影響）。最後一句回扣 P1 的一句話定位，讓簡報首尾呼應。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042416"/>
            <a:ext cx="289923" cy="4023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6891" y="106070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財團法人立賢教育基金會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77240" y="16276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{{academic}}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58952" y="224028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{{school}}課程規劃簡報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777240" y="3977640"/>
            <a:ext cx="6400800" cy="868680"/>
          </a:xfrm>
          <a:prstGeom prst="roundRect">
            <a:avLst>
              <a:gd name="adj" fmla="val 10526"/>
            </a:avLst>
          </a:prstGeom>
          <a:solidFill>
            <a:srgbClr val="F1C232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051560" y="39776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一句話定位</a:t>
            </a:r>
            <a:pPr indent="0" marL="0">
              <a:buNone/>
            </a:pPr>
            <a:r>
              <a:rPr lang="en-US" sz="1250" dirty="0">
                <a:solidFill>
                  <a:srgbClr val="E0A4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｜  </a:t>
            </a:r>
            <a:pPr indent="0" marL="0">
              <a:buNone/>
            </a:pPr>
            <a:r>
              <a:rPr lang="en-US" sz="1250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{{tagline}}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512064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77240" y="5120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負責夥伴：{{partner}}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971800" y="512064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971800" y="5120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學期：{{semester}}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7240" y="5742432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77240" y="57424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A 完整體驗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560320" y="5742432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560320" y="57424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B 多元體驗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43400" y="5742432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4343400" y="57424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C 探索工作坊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503920" y="1463040"/>
            <a:ext cx="1828800" cy="1828800"/>
          </a:xfrm>
          <a:prstGeom prst="ellipse">
            <a:avLst/>
          </a:prstGeom>
          <a:solidFill>
            <a:srgbClr val="2E9D8E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9875520" y="2011680"/>
            <a:ext cx="1554480" cy="1554480"/>
          </a:xfrm>
          <a:prstGeom prst="ellipse">
            <a:avLst/>
          </a:prstGeom>
          <a:solidFill>
            <a:srgbClr val="3A7CA5"/>
          </a:solidFill>
          <a:ln/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8229600" y="3017520"/>
            <a:ext cx="1645920" cy="1645920"/>
          </a:xfrm>
          <a:prstGeom prst="ellipse">
            <a:avLst/>
          </a:prstGeom>
          <a:solidFill>
            <a:srgbClr val="E8623C"/>
          </a:solidFill>
          <a:ln/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9784080" y="3566160"/>
            <a:ext cx="1828800" cy="1828800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8778240" y="4206240"/>
            <a:ext cx="1371600" cy="1371600"/>
          </a:xfrm>
          <a:prstGeom prst="ellipse">
            <a:avLst/>
          </a:prstGeom>
          <a:solidFill>
            <a:srgbClr val="E07A9B"/>
          </a:solidFill>
          <a:ln/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10332720" y="1371600"/>
            <a:ext cx="822960" cy="822960"/>
          </a:xfrm>
          <a:prstGeom prst="ellipse">
            <a:avLst/>
          </a:prstGeom>
          <a:solidFill>
            <a:srgbClr val="37474F"/>
          </a:solidFill>
          <a:ln/>
        </p:spPr>
        <p:txBody>
          <a:bodyPr/>
          <a:p/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788920"/>
            <a:ext cx="658917" cy="91440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138428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342637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學校速寫與需求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把學校處境與期待，濃縮成夥伴與講師都能接手的速寫。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9584" cy="2103120"/>
          </a:xfrm>
          <a:prstGeom prst="roundRect">
            <a:avLst>
              <a:gd name="adj" fmla="val 4348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749808" y="177393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" y="1896831"/>
            <a:ext cx="266273" cy="26627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89888" y="1792224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學校特色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04672" y="2395728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{{s2_feature}}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325112" y="1554480"/>
            <a:ext cx="3529584" cy="2103120"/>
          </a:xfrm>
          <a:prstGeom prst="roundRect">
            <a:avLst>
              <a:gd name="adj" fmla="val 4348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4526280" y="177393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175" y="1896831"/>
            <a:ext cx="266273" cy="26627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166360" y="1792224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學生概況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581144" y="2395728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{{s2_students}}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101584" y="1554480"/>
            <a:ext cx="3529584" cy="2103120"/>
          </a:xfrm>
          <a:prstGeom prst="roundRect">
            <a:avLst>
              <a:gd name="adj" fmla="val 4348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302752" y="177393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5647" y="1896831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942832" y="1792224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場地與環境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357616" y="2395728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{{s2_venue}}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749808" y="410565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703" y="4228551"/>
            <a:ext cx="266273" cy="26627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89888" y="4123944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優先領域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804672" y="4727448"/>
            <a:ext cx="4910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{{s2_priority}}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6217920" y="3886200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37474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19"/>
          <p:cNvSpPr/>
          <p:nvPr/>
        </p:nvSpPr>
        <p:spPr>
          <a:xfrm>
            <a:off x="6419088" y="410565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983" y="4228551"/>
            <a:ext cx="266273" cy="26627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59168" y="4123944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申請動機與期待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6473952" y="4727448"/>
            <a:ext cx="4910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{{s2_motivation}}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這一格是下一頁概念推導的起點。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548640" y="6455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個案資訊只留與課程設計相關的，避免標籤化。</a:t>
            </a:r>
            <a:endParaRPr lang="en-US" sz="950" dirty="0"/>
          </a:p>
        </p:txBody>
      </p:sp>
      <p:sp>
        <p:nvSpPr>
          <p:cNvPr id="31" name="Text 23"/>
          <p:cNvSpPr/>
          <p:nvPr/>
        </p:nvSpPr>
        <p:spPr>
          <a:xfrm>
            <a:off x="1138428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342637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概念透鏡與通則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把零散需求收斂成一個概念透鏡，長出 2–3 條可遷移的通則，作為整學期的軸。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F1C232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68680" y="157276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主通則</a:t>
            </a:r>
            <a:pPr indent="0" marL="0">
              <a:buNone/>
            </a:pPr>
            <a:r>
              <a:rPr lang="en-US" sz="1300" dirty="0">
                <a:solidFill>
                  <a:srgbClr val="E0A4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｜  </a:t>
            </a:r>
            <a:pPr indent="0" marL="0">
              <a:buNone/>
            </a:pPr>
            <a:r>
              <a:rPr lang="en-US" sz="1300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{{s3_main}}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" y="25603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回應 P2 的需求：</a:t>
            </a:r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{{s3_respond}}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2999232"/>
            <a:ext cx="3310128" cy="2944368"/>
          </a:xfrm>
          <a:prstGeom prst="roundRect">
            <a:avLst>
              <a:gd name="adj" fmla="val 3106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810512" y="3264408"/>
            <a:ext cx="786384" cy="78638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244" y="3453140"/>
            <a:ext cx="408920" cy="408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" y="420624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概念透鏡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822960" y="4718304"/>
            <a:ext cx="2761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{{s3_lens}}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425696" y="2999232"/>
            <a:ext cx="3310128" cy="2944368"/>
          </a:xfrm>
          <a:prstGeom prst="roundRect">
            <a:avLst>
              <a:gd name="adj" fmla="val 3106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687568" y="3264408"/>
            <a:ext cx="786384" cy="78638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00" y="3453140"/>
            <a:ext cx="408920" cy="408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425696" y="420624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核心概念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700016" y="4718304"/>
            <a:ext cx="2761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{{s3_concepts}}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302752" y="2999232"/>
            <a:ext cx="3310128" cy="2944368"/>
          </a:xfrm>
          <a:prstGeom prst="roundRect">
            <a:avLst>
              <a:gd name="adj" fmla="val 3106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9564624" y="3264408"/>
            <a:ext cx="786384" cy="78638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356" y="3453140"/>
            <a:ext cx="408920" cy="408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02752" y="420624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通則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8577072" y="4718304"/>
            <a:ext cx="2761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{{s3_principles}}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3931920" y="4197096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400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Text 18"/>
          <p:cNvSpPr/>
          <p:nvPr/>
        </p:nvSpPr>
        <p:spPr>
          <a:xfrm>
            <a:off x="7808976" y="4197096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400"/>
                </a:solidFill>
              </a:rPr>
              <a:t>→</a:t>
            </a:r>
            <a:endParaRPr lang="en-US" sz="2200" dirty="0"/>
          </a:p>
        </p:txBody>
      </p:sp>
      <p:sp>
        <p:nvSpPr>
          <p:cNvPr id="25" name="Text 19"/>
          <p:cNvSpPr/>
          <p:nvPr/>
        </p:nvSpPr>
        <p:spPr>
          <a:xfrm>
            <a:off x="548640" y="6455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先有通則，再選主題承載，不要倒過來。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1138428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342637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學生課程</a:t>
            </a:r>
            <a:pPr indent="0" marL="0">
              <a:buNone/>
            </a:pPr>
            <a:r>
              <a:rPr lang="en-US" sz="260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｜  </a:t>
            </a:r>
            <a:pPr indent="0" marL="0">
              <a:buNone/>
            </a:pPr>
            <a:r>
              <a:rPr lang="en-US" sz="26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領域 × 主題 × 承載概念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用具體領域與主題，把上一頁的通則裝進去，並列出預計邀請的講師。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514600"/>
                <a:gridCol w="2514600"/>
                <a:gridCol w="2377440"/>
                <a:gridCol w="576072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課程類別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對應五大方向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主題名稱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承載哪條通則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堂次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預計邀請講師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{{c1_dir}}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{{c1_prin}}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{{c2_dir}}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{{c2_prin}}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{{c3_dir}}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{{c3_prin}}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4406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{{s4_note}}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6455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同一條通則可由不同領域承載。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138428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342637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教師研習</a:t>
            </a:r>
            <a:pPr indent="0" marL="0">
              <a:buNone/>
            </a:pPr>
            <a:r>
              <a:rPr lang="en-US" sz="260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｜  </a:t>
            </a:r>
            <a:pPr indent="0" marL="0">
              <a:buNone/>
            </a:pPr>
            <a:r>
              <a:rPr lang="en-US" sz="26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賦能 × 共學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說明教師端怎麼被支持、和學生課程怎麼呼應，並列出預計邀請的講師。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3566160"/>
                <a:gridCol w="576072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課程類別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主題名稱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主題目標（承載哪條通則）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堂次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預計邀請講師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{{t1_type}}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{{t1_topic}}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{{t1_goal}}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{{t1_cnt}}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{{t1_teach}}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{{t2_type}}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{{t2_topic}}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{{t2_goal}}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{{t2_cnt}}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{{t2_teach}}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{{t3_type}}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{{t3_topic}}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{{t3_goal}}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{{t3_cnt}}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{{t3_teach}}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572000"/>
            <a:ext cx="5422392" cy="1554480"/>
          </a:xfrm>
          <a:prstGeom prst="roundRect">
            <a:avLst>
              <a:gd name="adj" fmla="val 5882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>
            <a:off x="749808" y="479145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" y="4914351"/>
            <a:ext cx="266273" cy="26627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89888" y="4809744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回應教師的哪個需求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804672" y="5413248"/>
            <a:ext cx="4910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{{s5_need}}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6217920" y="4572000"/>
            <a:ext cx="5422392" cy="1554480"/>
          </a:xfrm>
          <a:prstGeom prst="roundRect">
            <a:avLst>
              <a:gd name="adj" fmla="val 5882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7"/>
          <p:cNvSpPr/>
          <p:nvPr/>
        </p:nvSpPr>
        <p:spPr>
          <a:xfrm>
            <a:off x="6419088" y="479145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1983" y="4914351"/>
            <a:ext cx="266273" cy="26627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059168" y="4809744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與學生課程的連動點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6473952" y="5413248"/>
            <a:ext cx="4910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{{s5_link}}</a:t>
            </a:r>
            <a:endParaRPr lang="en-US" sz="1050" dirty="0"/>
          </a:p>
        </p:txBody>
      </p:sp>
      <p:sp>
        <p:nvSpPr>
          <p:cNvPr id="16" name="Text 10"/>
          <p:cNvSpPr/>
          <p:nvPr/>
        </p:nvSpPr>
        <p:spPr>
          <a:xfrm>
            <a:off x="548640" y="6455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教師研習不是學生課程的縮小版，先問「老師現在最累的是什麼」。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1138428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342637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本學期時程與堂次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把本學期攤成時間軸，讓校方看得到節奏。下學期方案另議。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996696" y="1847088"/>
            <a:ext cx="420624" cy="42062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646" y="1948038"/>
            <a:ext cx="218724" cy="2187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前置共備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4251960" y="17373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BEC5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663440" y="173736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4837176" y="1847088"/>
            <a:ext cx="420624" cy="42062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126" y="1948038"/>
            <a:ext cx="218724" cy="2187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4924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課程進行 ・ 觀課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8092440" y="17373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BEC5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503920" y="173736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677656" y="1847088"/>
            <a:ext cx="420624" cy="42062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606" y="1948038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8972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期末回顧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548640" y="2834640"/>
            <a:ext cx="5422392" cy="2743200"/>
          </a:xfrm>
          <a:prstGeom prst="roundRect">
            <a:avLst>
              <a:gd name="adj" fmla="val 3333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Text 14"/>
          <p:cNvSpPr/>
          <p:nvPr/>
        </p:nvSpPr>
        <p:spPr>
          <a:xfrm>
            <a:off x="859536" y="305409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本學期堂次分配</a:t>
            </a:r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（加總須與 P4 表格一致）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859536" y="3611880"/>
            <a:ext cx="3959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學生多元課程（廣度 90′）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4782312" y="36118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{{n1}}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859536" y="4069080"/>
            <a:ext cx="3959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學生探索課程（聚焦 180′）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782312" y="40690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{{n2}}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859536" y="4526280"/>
            <a:ext cx="3959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教育者賦能（150′）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782312" y="45262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{{n3}}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859536" y="4983480"/>
            <a:ext cx="3959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師生共學工作坊（180′）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4782312" y="49834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{{n4}}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217920" y="2834640"/>
            <a:ext cx="5422392" cy="2743200"/>
          </a:xfrm>
          <a:prstGeom prst="roundRect">
            <a:avLst>
              <a:gd name="adj" fmla="val 3333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6419088" y="305409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1983" y="3176991"/>
            <a:ext cx="266273" cy="266273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059168" y="3072384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校方協作提醒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6473952" y="3675888"/>
            <a:ext cx="4910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{{s6_total}}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{{s6_remind}}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548640" y="6455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時程對齊 115/09 起、不含寒假。下學期待方案確定後再補。</a:t>
            </a:r>
            <a:endParaRPr lang="en-US" sz="950" dirty="0"/>
          </a:p>
        </p:txBody>
      </p:sp>
      <p:sp>
        <p:nvSpPr>
          <p:cNvPr id="35" name="Text 28"/>
          <p:cNvSpPr/>
          <p:nvPr/>
        </p:nvSpPr>
        <p:spPr>
          <a:xfrm>
            <a:off x="1138428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342637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預期成果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收束在「這學期結束，師生與校園會有什麼具體不同」。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9584" cy="2743200"/>
          </a:xfrm>
          <a:prstGeom prst="roundRect">
            <a:avLst>
              <a:gd name="adj" fmla="val 3333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1938528" y="1883664"/>
            <a:ext cx="749808" cy="749808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482" y="2063618"/>
            <a:ext cx="389900" cy="389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78892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對學生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841248" y="3300984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{{s7_student}}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325112" y="1600200"/>
            <a:ext cx="3529584" cy="2743200"/>
          </a:xfrm>
          <a:prstGeom prst="roundRect">
            <a:avLst>
              <a:gd name="adj" fmla="val 3333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5715000" y="1883664"/>
            <a:ext cx="749808" cy="749808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954" y="2063618"/>
            <a:ext cx="389900" cy="389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25112" y="278892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對教師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617720" y="3300984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{{s7_teacher}}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101584" y="1600200"/>
            <a:ext cx="3529584" cy="2743200"/>
          </a:xfrm>
          <a:prstGeom prst="roundRect">
            <a:avLst>
              <a:gd name="adj" fmla="val 3333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9491472" y="1883664"/>
            <a:ext cx="749808" cy="749808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1426" y="2063618"/>
            <a:ext cx="389900" cy="389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101584" y="278892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對校園文化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8394192" y="3300984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{{s7_culture}}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48640" y="461772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37474F"/>
          </a:solidFill>
          <a:ln/>
        </p:spPr>
        <p:txBody>
          <a:bodyPr/>
          <a:p/>
        </p:txBody>
      </p:sp>
      <p:sp>
        <p:nvSpPr>
          <p:cNvPr id="21" name="Text 15"/>
          <p:cNvSpPr/>
          <p:nvPr/>
        </p:nvSpPr>
        <p:spPr>
          <a:xfrm>
            <a:off x="868680" y="46177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1C2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評估方式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量化：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{{s7_quant}}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質性：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{{s7_qual}}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48640" y="6455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成果寫「可被看見的片段」而非口號；最後一句回扣封面的一句話定位。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1138428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心創力校本陪伴計畫｜學校課程規劃簡報公版</dc:title>
  <dc:subject>PptxGenJS Presentation</dc:subject>
  <dc:creator>立賢教育基金會</dc:creator>
  <cp:lastModifiedBy>立賢教育基金會</cp:lastModifiedBy>
  <cp:revision>1</cp:revision>
  <dcterms:created xsi:type="dcterms:W3CDTF">2026-07-02T04:16:54Z</dcterms:created>
  <dcterms:modified xsi:type="dcterms:W3CDTF">2026-07-02T04:16:54Z</dcterms:modified>
</cp:coreProperties>
</file>