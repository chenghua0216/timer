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封面為一校一份。填入學校名稱、負責夥伴。方案三顆標籤：把實際方案那顆改成黃底、刪掉另外兩顆（範例預設標 A）。定位句用『動詞＋對象＋改變』，避免抽象口號。右側色塊為示意，正式版替換為基金會官方插畫。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需求寫『校方原話＋你的翻譯』兩層。個案資訊只留與課程設計相關的，避免標籤化。對齊申請附件一三大題（學生家長概況／學校特色場地／課程規劃期待）。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推導方向：概念透鏡 → 核心概念 → 通則，左到右就是思考順序。黃帶放最核心的主通則（BLUF），其餘通則放③。通則寫成『不綁年級、不綁主題也成立』的完整句子（CBCI 原則層）。先有通則，再選主題承載，不要倒過來。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每個主題都要能回答『它在搬運哪條通則』。領域是載體不是目的。堂次加總對齊所選方案。講師欄填姓名與領域即可。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教師研習不是學生課程的縮小版。共學工作坊強調角色互換與心理安全感。對齊計畫教師端雙目標：身心支持＋專業賦能。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每堂標出領域與主題對應，避免只有日期沒有內容。下學期方案可能變動，確定後再補。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成果寫『可被看見的片段』而非口號，對齊計畫三層評估（量化／質性／長期影響）。最後一句回扣 P1 的一句話定位，讓簡報首尾呼應。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Relationship Id="rId7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Relationship Id="rId8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Relationship Id="rId7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042416"/>
            <a:ext cx="943817" cy="457200"/>
          </a:xfrm>
          <a:prstGeom prst="roundRect">
            <a:avLst>
              <a:gd name="adj" fmla="val 16000"/>
            </a:avLst>
          </a:prstGeom>
        </p:spPr>
      </p:pic>
      <p:sp>
        <p:nvSpPr>
          <p:cNvPr id="4" name="Text 1"/>
          <p:cNvSpPr/>
          <p:nvPr/>
        </p:nvSpPr>
        <p:spPr>
          <a:xfrm>
            <a:off x="777240" y="1627632"/>
            <a:ext cx="6400800" cy="36576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{{academic}}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58952" y="2240280"/>
            <a:ext cx="6766560" cy="1371600"/>
          </a:xfrm>
          <a:prstGeom prst="roundRect">
            <a:avLst>
              <a:gd name="adj" fmla="val 60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{{school}}課程規劃簡報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777240" y="3977640"/>
            <a:ext cx="6400800" cy="868680"/>
          </a:xfrm>
          <a:prstGeom prst="roundRect">
            <a:avLst>
              <a:gd name="adj" fmla="val 10526"/>
            </a:avLst>
          </a:prstGeom>
          <a:solidFill>
            <a:srgbClr val="F1C232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051560" y="3977640"/>
            <a:ext cx="5943600" cy="868680"/>
          </a:xfrm>
          <a:prstGeom prst="roundRect">
            <a:avLst>
              <a:gd name="adj" fmla="val 9474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一句話定位</a:t>
            </a:r>
            <a:pPr indent="0" marL="0">
              <a:buNone/>
            </a:pPr>
            <a:r>
              <a:rPr lang="en-US" sz="1250" dirty="0">
                <a:solidFill>
                  <a:srgbClr val="E0A4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1250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{{tagline}}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51206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77240" y="5120640"/>
            <a:ext cx="2011680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負責夥伴：{{partner}}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971800" y="51206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971800" y="5120640"/>
            <a:ext cx="2011680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學期：{{semester}}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" y="5742432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77240" y="5742432"/>
            <a:ext cx="1645920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A 完整體驗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560320" y="5742432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560320" y="5742432"/>
            <a:ext cx="1645920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B 多元體驗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43400" y="5742432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343400" y="5742432"/>
            <a:ext cx="1645920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C 探索工作坊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402336"/>
            <a:ext cx="398364" cy="475488"/>
          </a:xfrm>
          <a:prstGeom prst="roundRect">
            <a:avLst>
              <a:gd name="adj" fmla="val 16000"/>
            </a:avLst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學校速寫與需求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把學校處境與期待，濃縮成夥伴與講師都能接手的速寫。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9584" cy="2103120"/>
          </a:xfrm>
          <a:prstGeom prst="roundRect">
            <a:avLst>
              <a:gd name="adj" fmla="val 4348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49808" y="177393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" y="189683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8" name="Text 4"/>
          <p:cNvSpPr/>
          <p:nvPr/>
        </p:nvSpPr>
        <p:spPr>
          <a:xfrm>
            <a:off x="1389888" y="1792224"/>
            <a:ext cx="2523744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學校特色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04672" y="2395728"/>
            <a:ext cx="3017520" cy="1097280"/>
          </a:xfrm>
          <a:prstGeom prst="roundRect">
            <a:avLst>
              <a:gd name="adj" fmla="val 75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{{s2_feature}}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325112" y="1554480"/>
            <a:ext cx="3529584" cy="2103120"/>
          </a:xfrm>
          <a:prstGeom prst="roundRect">
            <a:avLst>
              <a:gd name="adj" fmla="val 4348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4526280" y="177393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175" y="189683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13" name="Text 8"/>
          <p:cNvSpPr/>
          <p:nvPr/>
        </p:nvSpPr>
        <p:spPr>
          <a:xfrm>
            <a:off x="5166360" y="1792224"/>
            <a:ext cx="2523744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學生概況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81144" y="2395728"/>
            <a:ext cx="3017520" cy="1097280"/>
          </a:xfrm>
          <a:prstGeom prst="roundRect">
            <a:avLst>
              <a:gd name="adj" fmla="val 75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{{s2_students}}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101584" y="1554480"/>
            <a:ext cx="3529584" cy="2103120"/>
          </a:xfrm>
          <a:prstGeom prst="roundRect">
            <a:avLst>
              <a:gd name="adj" fmla="val 4348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302752" y="177393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5647" y="189683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18" name="Text 12"/>
          <p:cNvSpPr/>
          <p:nvPr/>
        </p:nvSpPr>
        <p:spPr>
          <a:xfrm>
            <a:off x="8942832" y="1792224"/>
            <a:ext cx="2523744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場地與環境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357616" y="2395728"/>
            <a:ext cx="3017520" cy="1097280"/>
          </a:xfrm>
          <a:prstGeom prst="roundRect">
            <a:avLst>
              <a:gd name="adj" fmla="val 75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{{s2_venue}}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749808" y="41056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703" y="422855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23" name="Text 16"/>
          <p:cNvSpPr/>
          <p:nvPr/>
        </p:nvSpPr>
        <p:spPr>
          <a:xfrm>
            <a:off x="1389888" y="4123944"/>
            <a:ext cx="4416552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優先領域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804672" y="4727448"/>
            <a:ext cx="4910328" cy="1234440"/>
          </a:xfrm>
          <a:prstGeom prst="roundRect">
            <a:avLst>
              <a:gd name="adj" fmla="val 6667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{{s2_priority}}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217920" y="388620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37474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19"/>
          <p:cNvSpPr/>
          <p:nvPr/>
        </p:nvSpPr>
        <p:spPr>
          <a:xfrm>
            <a:off x="6419088" y="41056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983" y="422855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28" name="Text 20"/>
          <p:cNvSpPr/>
          <p:nvPr/>
        </p:nvSpPr>
        <p:spPr>
          <a:xfrm>
            <a:off x="7059168" y="4123944"/>
            <a:ext cx="4416552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申請動機與期待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6473952" y="4727448"/>
            <a:ext cx="4910328" cy="1234440"/>
          </a:xfrm>
          <a:prstGeom prst="roundRect">
            <a:avLst>
              <a:gd name="adj" fmla="val 6667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{{s2_motivation}}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這一格是下一頁概念推導的起點。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48640" y="6455664"/>
            <a:ext cx="877824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個案資訊只留與課程設計相關的，避免標籤化。</a:t>
            </a:r>
            <a:endParaRPr lang="en-US" sz="950" dirty="0"/>
          </a:p>
        </p:txBody>
      </p:sp>
      <p:sp>
        <p:nvSpPr>
          <p:cNvPr id="31" name="Text 23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02336"/>
            <a:ext cx="398364" cy="475488"/>
          </a:xfrm>
          <a:prstGeom prst="roundRect">
            <a:avLst>
              <a:gd name="adj" fmla="val 16000"/>
            </a:avLst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概念透鏡與通則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把零散需求收斂成一個概念透鏡，長出 2–3 條可遷移的通則，作為整學期的軸。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F1C232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8680" y="1572768"/>
            <a:ext cx="10515600" cy="914400"/>
          </a:xfrm>
          <a:prstGeom prst="roundRect">
            <a:avLst>
              <a:gd name="adj" fmla="val 9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主通則</a:t>
            </a:r>
            <a:pPr indent="0" marL="0">
              <a:buNone/>
            </a:pPr>
            <a:r>
              <a:rPr lang="en-US" sz="1300" dirty="0">
                <a:solidFill>
                  <a:srgbClr val="E0A4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1300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{{s3_main}}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2560320"/>
            <a:ext cx="10515600" cy="292608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回應 P2 的需求：</a:t>
            </a:r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{{s3_respond}}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2999232"/>
            <a:ext cx="3310128" cy="2944368"/>
          </a:xfrm>
          <a:prstGeom prst="roundRect">
            <a:avLst>
              <a:gd name="adj" fmla="val 3106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810512" y="3264408"/>
            <a:ext cx="786384" cy="78638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244" y="3453140"/>
            <a:ext cx="408920" cy="408920"/>
          </a:xfrm>
          <a:prstGeom prst="roundRect">
            <a:avLst>
              <a:gd name="adj" fmla="val 16000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548640" y="4206240"/>
            <a:ext cx="3310128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概念透鏡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22960" y="4718304"/>
            <a:ext cx="2761488" cy="1097280"/>
          </a:xfrm>
          <a:prstGeom prst="roundRect">
            <a:avLst>
              <a:gd name="adj" fmla="val 75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{{s3_lens}}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425696" y="2999232"/>
            <a:ext cx="3310128" cy="2944368"/>
          </a:xfrm>
          <a:prstGeom prst="roundRect">
            <a:avLst>
              <a:gd name="adj" fmla="val 3106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687568" y="3264408"/>
            <a:ext cx="786384" cy="78638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00" y="3453140"/>
            <a:ext cx="408920" cy="408920"/>
          </a:xfrm>
          <a:prstGeom prst="roundRect">
            <a:avLst>
              <a:gd name="adj" fmla="val 16000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4425696" y="4206240"/>
            <a:ext cx="3310128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核心概念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700016" y="4718304"/>
            <a:ext cx="2761488" cy="1097280"/>
          </a:xfrm>
          <a:prstGeom prst="roundRect">
            <a:avLst>
              <a:gd name="adj" fmla="val 75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{{s3_concepts}}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302752" y="2999232"/>
            <a:ext cx="3310128" cy="2944368"/>
          </a:xfrm>
          <a:prstGeom prst="roundRect">
            <a:avLst>
              <a:gd name="adj" fmla="val 3106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9564624" y="3264408"/>
            <a:ext cx="786384" cy="78638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356" y="3453140"/>
            <a:ext cx="408920" cy="408920"/>
          </a:xfrm>
          <a:prstGeom prst="roundRect">
            <a:avLst>
              <a:gd name="adj" fmla="val 16000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8302752" y="4206240"/>
            <a:ext cx="3310128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通則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577072" y="4718304"/>
            <a:ext cx="2761488" cy="1097280"/>
          </a:xfrm>
          <a:prstGeom prst="roundRect">
            <a:avLst>
              <a:gd name="adj" fmla="val 75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{{s3_principles}}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3931920" y="4197096"/>
            <a:ext cx="420624" cy="54864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400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7808976" y="4197096"/>
            <a:ext cx="420624" cy="54864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400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Text 19"/>
          <p:cNvSpPr/>
          <p:nvPr/>
        </p:nvSpPr>
        <p:spPr>
          <a:xfrm>
            <a:off x="548640" y="6455664"/>
            <a:ext cx="877824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先有通則，再選主題承載，不要倒過來。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2336"/>
            <a:ext cx="398364" cy="475488"/>
          </a:xfrm>
          <a:prstGeom prst="roundRect">
            <a:avLst>
              <a:gd name="adj" fmla="val 16000"/>
            </a:avLst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學生課程</a:t>
            </a:r>
            <a:pPr indent="0" marL="0">
              <a:buNone/>
            </a:pPr>
            <a:r>
              <a:rPr lang="en-US" sz="260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26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領域 × 主題 × 承載概念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用具體領域與主題，把上一頁的通則裝進去，並列出預計邀請的講師。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14600"/>
                <a:gridCol w="2514600"/>
                <a:gridCol w="2377440"/>
                <a:gridCol w="576072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課程類別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對應五大方向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承載哪條通則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堂次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預計邀請講師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{{c1_dir}}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{{c1_prin}}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{{c1_teach}}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{{c2_dir}}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{{c2_prin}}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{{c2_teach}}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{{c3_dir}}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{{c3_prin}}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{{c3_teach}}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440680"/>
            <a:ext cx="11091672" cy="36576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{{s4_note}}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55664"/>
            <a:ext cx="877824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同一條通則可由不同領域承載。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02336"/>
            <a:ext cx="398364" cy="475488"/>
          </a:xfrm>
          <a:prstGeom prst="roundRect">
            <a:avLst>
              <a:gd name="adj" fmla="val 16000"/>
            </a:avLst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教師研習</a:t>
            </a:r>
            <a:pPr indent="0" marL="0">
              <a:buNone/>
            </a:pPr>
            <a:r>
              <a:rPr lang="en-US" sz="260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｜  </a:t>
            </a:r>
            <a:pPr indent="0" marL="0">
              <a:buNone/>
            </a:pPr>
            <a:r>
              <a:rPr lang="en-US" sz="26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賦能 × 共學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說明教師端怎麼被支持、和學生課程怎麼呼應，並列出預計邀請的講師。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566160"/>
                <a:gridCol w="576072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課程類別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主題目標（承載哪條通則）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堂次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預計邀請講師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74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{{t1_goal}}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{{t1_teach}}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{{t2_goal}}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{{t2_teach}}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{{t3_type}}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{{t3_topic}}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{{t3_goal}}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{{t3_cnt}}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07D8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{{t3_teach}}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572000"/>
            <a:ext cx="5422392" cy="1554480"/>
          </a:xfrm>
          <a:prstGeom prst="roundRect">
            <a:avLst>
              <a:gd name="adj" fmla="val 5882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>
            <a:off x="749808" y="47914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" y="491435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9" name="Text 4"/>
          <p:cNvSpPr/>
          <p:nvPr/>
        </p:nvSpPr>
        <p:spPr>
          <a:xfrm>
            <a:off x="1389888" y="4809744"/>
            <a:ext cx="4416552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回應教師的哪個需求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804672" y="5413248"/>
            <a:ext cx="4910328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{{s5_need}}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6217920" y="4572000"/>
            <a:ext cx="5422392" cy="1554480"/>
          </a:xfrm>
          <a:prstGeom prst="roundRect">
            <a:avLst>
              <a:gd name="adj" fmla="val 5882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7"/>
          <p:cNvSpPr/>
          <p:nvPr/>
        </p:nvSpPr>
        <p:spPr>
          <a:xfrm>
            <a:off x="6419088" y="479145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1983" y="491435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14" name="Text 8"/>
          <p:cNvSpPr/>
          <p:nvPr/>
        </p:nvSpPr>
        <p:spPr>
          <a:xfrm>
            <a:off x="7059168" y="4809744"/>
            <a:ext cx="4416552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與學生課程的連動點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6473952" y="5413248"/>
            <a:ext cx="4910328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{{s5_link}}</a:t>
            </a:r>
            <a:endParaRPr lang="en-US" sz="1050" dirty="0"/>
          </a:p>
        </p:txBody>
      </p:sp>
      <p:sp>
        <p:nvSpPr>
          <p:cNvPr id="16" name="Text 10"/>
          <p:cNvSpPr/>
          <p:nvPr/>
        </p:nvSpPr>
        <p:spPr>
          <a:xfrm>
            <a:off x="548640" y="6455664"/>
            <a:ext cx="877824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教師研習不是學生課程的縮小版，先問「老師現在最累的是什麼」。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02336"/>
            <a:ext cx="398364" cy="475488"/>
          </a:xfrm>
          <a:prstGeom prst="roundRect">
            <a:avLst>
              <a:gd name="adj" fmla="val 16000"/>
            </a:avLst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本學期時程與堂次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把本學期攤成時間軸，讓校方看得到節奏。下學期方案另議。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96696" y="1847088"/>
            <a:ext cx="420624" cy="42062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646" y="1948038"/>
            <a:ext cx="218724" cy="218724"/>
          </a:xfrm>
          <a:prstGeom prst="roundRect">
            <a:avLst>
              <a:gd name="adj" fmla="val 16000"/>
            </a:avLst>
          </a:prstGeom>
        </p:spPr>
      </p:pic>
      <p:sp>
        <p:nvSpPr>
          <p:cNvPr id="8" name="Text 4"/>
          <p:cNvSpPr/>
          <p:nvPr/>
        </p:nvSpPr>
        <p:spPr>
          <a:xfrm>
            <a:off x="1508760" y="1737360"/>
            <a:ext cx="2560320" cy="640080"/>
          </a:xfrm>
          <a:prstGeom prst="roundRect">
            <a:avLst>
              <a:gd name="adj" fmla="val 12857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前置共備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4251960" y="1737360"/>
            <a:ext cx="365760" cy="64008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EC5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663440" y="173736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4837176" y="1847088"/>
            <a:ext cx="420624" cy="42062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126" y="1948038"/>
            <a:ext cx="218724" cy="218724"/>
          </a:xfrm>
          <a:prstGeom prst="roundRect">
            <a:avLst>
              <a:gd name="adj" fmla="val 16000"/>
            </a:avLst>
          </a:prstGeom>
        </p:spPr>
      </p:pic>
      <p:sp>
        <p:nvSpPr>
          <p:cNvPr id="13" name="Text 8"/>
          <p:cNvSpPr/>
          <p:nvPr/>
        </p:nvSpPr>
        <p:spPr>
          <a:xfrm>
            <a:off x="5349240" y="1737360"/>
            <a:ext cx="2560320" cy="640080"/>
          </a:xfrm>
          <a:prstGeom prst="roundRect">
            <a:avLst>
              <a:gd name="adj" fmla="val 12857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課程進行 ・ 觀課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092440" y="1737360"/>
            <a:ext cx="365760" cy="64008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BEC5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503920" y="173736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677656" y="1847088"/>
            <a:ext cx="420624" cy="42062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606" y="1948038"/>
            <a:ext cx="218724" cy="218724"/>
          </a:xfrm>
          <a:prstGeom prst="roundRect">
            <a:avLst>
              <a:gd name="adj" fmla="val 16000"/>
            </a:avLst>
          </a:prstGeom>
        </p:spPr>
      </p:pic>
      <p:sp>
        <p:nvSpPr>
          <p:cNvPr id="18" name="Text 12"/>
          <p:cNvSpPr/>
          <p:nvPr/>
        </p:nvSpPr>
        <p:spPr>
          <a:xfrm>
            <a:off x="9189720" y="1737360"/>
            <a:ext cx="2560320" cy="640080"/>
          </a:xfrm>
          <a:prstGeom prst="roundRect">
            <a:avLst>
              <a:gd name="adj" fmla="val 12857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期末回顧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548640" y="2834640"/>
            <a:ext cx="5422392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859536" y="3054096"/>
            <a:ext cx="4800600" cy="36576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本學期堂次分配</a:t>
            </a:r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（加總須與 P4 表格一致）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59536" y="3611880"/>
            <a:ext cx="3959352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學生多元課程（廣度 90′）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4782312" y="3611880"/>
            <a:ext cx="914400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{{n1}}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59536" y="4069080"/>
            <a:ext cx="3959352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學生探索課程（聚焦 180′）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782312" y="4069080"/>
            <a:ext cx="914400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{{n2}}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859536" y="4526280"/>
            <a:ext cx="3959352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教育者賦能（150′）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782312" y="4526280"/>
            <a:ext cx="914400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{{n3}}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859536" y="4983480"/>
            <a:ext cx="3959352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師生共學工作坊（180′）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782312" y="4983480"/>
            <a:ext cx="914400" cy="40233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74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{{n4}}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217920" y="2834640"/>
            <a:ext cx="5422392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6419088" y="3054096"/>
            <a:ext cx="512064" cy="512064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983" y="3176991"/>
            <a:ext cx="266273" cy="266273"/>
          </a:xfrm>
          <a:prstGeom prst="roundRect">
            <a:avLst>
              <a:gd name="adj" fmla="val 16000"/>
            </a:avLst>
          </a:prstGeom>
        </p:spPr>
      </p:pic>
      <p:sp>
        <p:nvSpPr>
          <p:cNvPr id="32" name="Text 25"/>
          <p:cNvSpPr/>
          <p:nvPr/>
        </p:nvSpPr>
        <p:spPr>
          <a:xfrm>
            <a:off x="7059168" y="3072384"/>
            <a:ext cx="4416552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校方協作提醒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6473952" y="3675888"/>
            <a:ext cx="4910328" cy="1737360"/>
          </a:xfrm>
          <a:prstGeom prst="roundRect">
            <a:avLst>
              <a:gd name="adj" fmla="val 4737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{{s6_total}}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{{s6_remind}}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548640" y="6455664"/>
            <a:ext cx="877824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時程對齊 115/09 起、不含寒假。下學期待方案確定後再補。</a:t>
            </a:r>
            <a:endParaRPr lang="en-US" sz="950" dirty="0"/>
          </a:p>
        </p:txBody>
      </p:sp>
      <p:sp>
        <p:nvSpPr>
          <p:cNvPr id="35" name="Text 28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02336"/>
            <a:ext cx="398364" cy="475488"/>
          </a:xfrm>
          <a:prstGeom prst="roundRect">
            <a:avLst>
              <a:gd name="adj" fmla="val 16000"/>
            </a:avLst>
          </a:prstGeom>
        </p:spPr>
      </p:pic>
      <p:sp>
        <p:nvSpPr>
          <p:cNvPr id="3" name="Text 0"/>
          <p:cNvSpPr/>
          <p:nvPr/>
        </p:nvSpPr>
        <p:spPr>
          <a:xfrm>
            <a:off x="1024128" y="365760"/>
            <a:ext cx="10607040" cy="548640"/>
          </a:xfrm>
          <a:prstGeom prst="roundRect">
            <a:avLst>
              <a:gd name="adj" fmla="val 15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預期成果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1024128" y="950976"/>
            <a:ext cx="10607040" cy="310896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收束在「這學期結束，師生與校園會有什麼具體不同」。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9584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938528" y="1883664"/>
            <a:ext cx="749808" cy="749808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482" y="2063618"/>
            <a:ext cx="389900" cy="389900"/>
          </a:xfrm>
          <a:prstGeom prst="roundRect">
            <a:avLst>
              <a:gd name="adj" fmla="val 16000"/>
            </a:avLst>
          </a:prstGeom>
        </p:spPr>
      </p:pic>
      <p:sp>
        <p:nvSpPr>
          <p:cNvPr id="8" name="Text 4"/>
          <p:cNvSpPr/>
          <p:nvPr/>
        </p:nvSpPr>
        <p:spPr>
          <a:xfrm>
            <a:off x="548640" y="2788920"/>
            <a:ext cx="3529584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對學生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841248" y="3300984"/>
            <a:ext cx="2944368" cy="914400"/>
          </a:xfrm>
          <a:prstGeom prst="roundRect">
            <a:avLst>
              <a:gd name="adj" fmla="val 90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{{s7_student}}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325112" y="1600200"/>
            <a:ext cx="3529584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5715000" y="1883664"/>
            <a:ext cx="749808" cy="749808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954" y="2063618"/>
            <a:ext cx="389900" cy="389900"/>
          </a:xfrm>
          <a:prstGeom prst="roundRect">
            <a:avLst>
              <a:gd name="adj" fmla="val 16000"/>
            </a:avLst>
          </a:prstGeom>
        </p:spPr>
      </p:pic>
      <p:sp>
        <p:nvSpPr>
          <p:cNvPr id="13" name="Text 8"/>
          <p:cNvSpPr/>
          <p:nvPr/>
        </p:nvSpPr>
        <p:spPr>
          <a:xfrm>
            <a:off x="4325112" y="2788920"/>
            <a:ext cx="3529584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對教師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617720" y="3300984"/>
            <a:ext cx="2944368" cy="914400"/>
          </a:xfrm>
          <a:prstGeom prst="roundRect">
            <a:avLst>
              <a:gd name="adj" fmla="val 90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{{s7_teacher}}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101584" y="1600200"/>
            <a:ext cx="3529584" cy="2743200"/>
          </a:xfrm>
          <a:prstGeom prst="roundRect">
            <a:avLst>
              <a:gd name="adj" fmla="val 3333"/>
            </a:avLst>
          </a:prstGeom>
          <a:solidFill>
            <a:srgbClr val="EFEFEF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9491472" y="1883664"/>
            <a:ext cx="749808" cy="749808"/>
          </a:xfrm>
          <a:prstGeom prst="ellipse">
            <a:avLst/>
          </a:prstGeom>
          <a:solidFill>
            <a:srgbClr val="F1C232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1426" y="2063618"/>
            <a:ext cx="389900" cy="389900"/>
          </a:xfrm>
          <a:prstGeom prst="roundRect">
            <a:avLst>
              <a:gd name="adj" fmla="val 16000"/>
            </a:avLst>
          </a:prstGeom>
        </p:spPr>
      </p:pic>
      <p:sp>
        <p:nvSpPr>
          <p:cNvPr id="18" name="Text 12"/>
          <p:cNvSpPr/>
          <p:nvPr/>
        </p:nvSpPr>
        <p:spPr>
          <a:xfrm>
            <a:off x="8101584" y="2788920"/>
            <a:ext cx="3529584" cy="45720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020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對校園文化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394192" y="3300984"/>
            <a:ext cx="2944368" cy="914400"/>
          </a:xfrm>
          <a:prstGeom prst="roundRect">
            <a:avLst>
              <a:gd name="adj" fmla="val 9000"/>
            </a:avLst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07D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{{s7_culture}}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461772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37474F"/>
          </a:solidFill>
          <a:ln/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868680" y="4617720"/>
            <a:ext cx="10515600" cy="1051560"/>
          </a:xfrm>
          <a:prstGeom prst="roundRect">
            <a:avLst>
              <a:gd name="adj" fmla="val 7826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1C2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評估方式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量化：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{{s7_quant}}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質性：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{{s7_qual}}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48640" y="6455664"/>
            <a:ext cx="877824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成果寫「可被看見的片段」而非口號；最後一句回扣封面的一句話定位。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11384280" y="6455664"/>
            <a:ext cx="411480" cy="274320"/>
          </a:xfrm>
          <a:prstGeom prst="roundRect">
            <a:avLst>
              <a:gd name="adj" fmla="val 16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心創力校本陪伴計畫｜學校課程規劃簡報公版</dc:title>
  <dc:subject>PptxGenJS Presentation</dc:subject>
  <dc:creator>立賢教育基金會</dc:creator>
  <cp:lastModifiedBy>立賢教育基金會</cp:lastModifiedBy>
  <cp:revision>1</cp:revision>
  <dcterms:created xsi:type="dcterms:W3CDTF">2026-07-02T04:16:54Z</dcterms:created>
  <dcterms:modified xsi:type="dcterms:W3CDTF">2026-07-02T04:16:54Z</dcterms:modified>
</cp:coreProperties>
</file>